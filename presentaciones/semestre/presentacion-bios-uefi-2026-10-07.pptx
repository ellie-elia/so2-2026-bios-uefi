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proyecto como un equipo Scrum de tres personas. Cada integrante tiene un rol claro: gestión, desarrollo técnico y calidad.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los equipos tienen la configuración de fábrica. Eso afecta a estudiantes, docentes y soporte técnico. Los cinco objetivos específicos siguen el ciclo de un proyecto de software: análisis, diseño, desarrollo, contingencia y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Vemos el proyecto como software: un guion con cuatro etapas. Lo clave es el rollback, que evita dejar un equipo inutilizado. Todo se prueba primero en máquinas virtuales.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cronograma va del 31 de agosto al 16 de diciembre. Trabajamos con Scrum: cada dos semanas revisamos lo hecho y planificamos el siguiente sprint. Hoy estamos en la semana 6, en el sprint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 completamos la planificación y el análisis. La calidad se mide con datos: el tiempo del proceso manual es nuestra línea base y lo compararemos con el tiempo y la tasa de éxito del guion.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es viable: no tiene costo de software y el riesgo principal está cubierto con el rollback. La idea es implementarlo primero en la universidad como caso de éxito y luego ofrecerlo a otras instituciones.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8B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BIOS/UEFI Personalizada · Sistemas Operativos · UNIFRANZ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143000" cy="10881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74520" y="685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PRIVADA FRANZ TAMAYO · INGENIERÍA DE SISTEMAS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874520" y="9875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· Docente: Diego Patrick Cárdenas Sejas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7830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BIOS/UEFI Personalizada para Equipos de la Universidad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7889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firmware estandarizado + guion de despliegue automatizado con rollback</a:t>
            </a:r>
            <a:endParaRPr lang="en-US" sz="1600" dirty="0"/>
          </a:p>
        </p:txBody>
      </p:sp>
      <p:sp>
        <p:nvSpPr>
          <p:cNvPr id="7" name="equipo0"/>
          <p:cNvSpPr/>
          <p:nvPr/>
        </p:nvSpPr>
        <p:spPr>
          <a:xfrm>
            <a:off x="502920" y="3520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74172A"/>
          </a:solidFill>
          <a:ln w="9525">
            <a:solidFill>
              <a:srgbClr val="A849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Solis Escobar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/ Scrum Master</a:t>
            </a:r>
            <a:endParaRPr lang="en-US" sz="1100" dirty="0"/>
          </a:p>
        </p:txBody>
      </p:sp>
      <p:sp>
        <p:nvSpPr>
          <p:cNvPr id="10" name="equipo1"/>
          <p:cNvSpPr/>
          <p:nvPr/>
        </p:nvSpPr>
        <p:spPr>
          <a:xfrm>
            <a:off x="3246120" y="3520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74172A"/>
          </a:solidFill>
          <a:ln w="9525">
            <a:solidFill>
              <a:srgbClr val="A849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Ruben Oconor Aruquipa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/ Especialista en Firmware</a:t>
            </a:r>
            <a:endParaRPr lang="en-US" sz="1100" dirty="0"/>
          </a:p>
        </p:txBody>
      </p:sp>
      <p:sp>
        <p:nvSpPr>
          <p:cNvPr id="13" name="equipo2"/>
          <p:cNvSpPr/>
          <p:nvPr/>
        </p:nvSpPr>
        <p:spPr>
          <a:xfrm>
            <a:off x="5989320" y="3520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74172A"/>
          </a:solidFill>
          <a:ln w="9525">
            <a:solidFill>
              <a:srgbClr val="A849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Manuel Chacon Villarroel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4041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QA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Cochabamba – Bolivia · 7 de octubre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firmware de fábrica en los laboratorios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 (diagnóstico)</a:t>
            </a:r>
            <a:endParaRPr lang="en-US" sz="1600" dirty="0"/>
          </a:p>
        </p:txBody>
      </p:sp>
      <p:sp>
        <p:nvSpPr>
          <p:cNvPr id="4" name="circ0"/>
          <p:cNvSpPr/>
          <p:nvPr/>
        </p:nvSpPr>
        <p:spPr>
          <a:xfrm>
            <a:off x="457200" y="1508760"/>
            <a:ext cx="640080" cy="640080"/>
          </a:xfrm>
          <a:prstGeom prst="ellipse">
            <a:avLst/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642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527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libre desde USB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8379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puede iniciar un sistema externo.</a:t>
            </a:r>
            <a:endParaRPr lang="en-US" sz="1300" dirty="0"/>
          </a:p>
        </p:txBody>
      </p:sp>
      <p:sp>
        <p:nvSpPr>
          <p:cNvPr id="8" name="circ1"/>
          <p:cNvSpPr/>
          <p:nvPr/>
        </p:nvSpPr>
        <p:spPr>
          <a:xfrm>
            <a:off x="457200" y="2532888"/>
            <a:ext cx="640080" cy="640080"/>
          </a:xfrm>
          <a:prstGeom prst="ellipse">
            <a:avLst/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8833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511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contraseña de administrador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cambian el orden de arranque.</a:t>
            </a:r>
            <a:endParaRPr lang="en-US" sz="1300" dirty="0"/>
          </a:p>
        </p:txBody>
      </p:sp>
      <p:sp>
        <p:nvSpPr>
          <p:cNvPr id="12" name="circ2"/>
          <p:cNvSpPr/>
          <p:nvPr/>
        </p:nvSpPr>
        <p:spPr>
          <a:xfrm>
            <a:off x="457200" y="3557016"/>
            <a:ext cx="640080" cy="640080"/>
          </a:xfrm>
          <a:prstGeom prst="ellipse">
            <a:avLst/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71246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75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Boot sin aprovechar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bloquea software no firmado.</a:t>
            </a:r>
            <a:endParaRPr lang="en-US" sz="1300" dirty="0"/>
          </a:p>
        </p:txBody>
      </p:sp>
      <p:sp>
        <p:nvSpPr>
          <p:cNvPr id="16" name="objetivos"/>
          <p:cNvSpPr/>
          <p:nvPr/>
        </p:nvSpPr>
        <p:spPr>
          <a:xfrm>
            <a:off x="4663440" y="105156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12527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892040" y="169164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y automatizar la configuración BIOS/UEFI de los equipos del laboratorio para mejorar su seguridad y control.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892040" y="25603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el estado actual (“antes”)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perfil base de parámetros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guion de despliegue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rollback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y medir vs. proceso manual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despliegue automatizado con rollback</a:t>
            </a:r>
            <a:endParaRPr lang="en-US" sz="2600" dirty="0"/>
          </a:p>
        </p:txBody>
      </p:sp>
      <p:sp>
        <p:nvSpPr>
          <p:cNvPr id="3" name="paso0"/>
          <p:cNvSpPr/>
          <p:nvPr/>
        </p:nvSpPr>
        <p:spPr>
          <a:xfrm>
            <a:off x="457200" y="1097280"/>
            <a:ext cx="1828800" cy="1874520"/>
          </a:xfrm>
          <a:prstGeom prst="roundRect">
            <a:avLst>
              <a:gd name="adj" fmla="val 5000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810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Respaldar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7627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configuración actual de cada equipo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28600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8" name="paso1"/>
          <p:cNvSpPr/>
          <p:nvPr/>
        </p:nvSpPr>
        <p:spPr>
          <a:xfrm>
            <a:off x="2560320" y="1097280"/>
            <a:ext cx="1828800" cy="1874520"/>
          </a:xfrm>
          <a:prstGeom prst="roundRect">
            <a:avLst>
              <a:gd name="adj" fmla="val 5000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43200" y="1810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Aplicar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743200" y="217627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perfil base con CCTK / BCU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paso2"/>
          <p:cNvSpPr/>
          <p:nvPr/>
        </p:nvSpPr>
        <p:spPr>
          <a:xfrm>
            <a:off x="4663440" y="1097280"/>
            <a:ext cx="1828800" cy="1874520"/>
          </a:xfrm>
          <a:prstGeom prst="roundRect">
            <a:avLst>
              <a:gd name="adj" fmla="val 5000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46320" y="1810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Verificar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846320" y="217627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cada parámetro y registra un log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paso3"/>
          <p:cNvSpPr/>
          <p:nvPr/>
        </p:nvSpPr>
        <p:spPr>
          <a:xfrm>
            <a:off x="6766560" y="1097280"/>
            <a:ext cx="1828800" cy="187452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801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49440" y="18105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Rollback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949440" y="217627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falla, restaura el respaldo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(costo de software: Bs 0)</a:t>
            </a:r>
            <a:endParaRPr lang="en-US" sz="1500" dirty="0"/>
          </a:p>
        </p:txBody>
      </p:sp>
      <p:sp>
        <p:nvSpPr>
          <p:cNvPr id="23" name="stack0"/>
          <p:cNvSpPr/>
          <p:nvPr/>
        </p:nvSpPr>
        <p:spPr>
          <a:xfrm>
            <a:off x="457200" y="365760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F6EEEF"/>
          </a:solidFill>
          <a:ln w="6350">
            <a:solidFill>
              <a:srgbClr val="E3D6D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66928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</a:t>
            </a:r>
            <a:endParaRPr lang="en-US" sz="1100" dirty="0"/>
          </a:p>
        </p:txBody>
      </p:sp>
      <p:sp>
        <p:nvSpPr>
          <p:cNvPr id="25" name="stack1"/>
          <p:cNvSpPr/>
          <p:nvPr/>
        </p:nvSpPr>
        <p:spPr>
          <a:xfrm>
            <a:off x="3200400" y="365760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F6EEEF"/>
          </a:solidFill>
          <a:ln w="6350">
            <a:solidFill>
              <a:srgbClr val="E3D6D8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310128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+ OVMF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UEFI por terminal</a:t>
            </a:r>
            <a:endParaRPr lang="en-US" sz="1100" dirty="0"/>
          </a:p>
        </p:txBody>
      </p:sp>
      <p:sp>
        <p:nvSpPr>
          <p:cNvPr id="27" name="stack2"/>
          <p:cNvSpPr/>
          <p:nvPr/>
        </p:nvSpPr>
        <p:spPr>
          <a:xfrm>
            <a:off x="5943600" y="365760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F6EEEF"/>
          </a:solidFill>
          <a:ln w="6350">
            <a:solidFill>
              <a:srgbClr val="E3D6D8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053328" y="36576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Workstation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demos visuales</a:t>
            </a:r>
            <a:endParaRPr lang="en-US" sz="1100" dirty="0"/>
          </a:p>
        </p:txBody>
      </p:sp>
      <p:sp>
        <p:nvSpPr>
          <p:cNvPr id="29" name="stack3"/>
          <p:cNvSpPr/>
          <p:nvPr/>
        </p:nvSpPr>
        <p:spPr>
          <a:xfrm>
            <a:off x="457200" y="416052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F6EEEF"/>
          </a:solidFill>
          <a:ln w="6350">
            <a:solidFill>
              <a:srgbClr val="E3D6D8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66928" y="4160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CCTK / HP BCU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real del firmware</a:t>
            </a:r>
            <a:endParaRPr lang="en-US" sz="1100" dirty="0"/>
          </a:p>
        </p:txBody>
      </p:sp>
      <p:sp>
        <p:nvSpPr>
          <p:cNvPr id="31" name="stack4"/>
          <p:cNvSpPr/>
          <p:nvPr/>
        </p:nvSpPr>
        <p:spPr>
          <a:xfrm>
            <a:off x="3200400" y="416052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F6EEEF"/>
          </a:solidFill>
          <a:ln w="6350">
            <a:solidFill>
              <a:srgbClr val="E3D6D8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3310128" y="4160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100" dirty="0"/>
          </a:p>
        </p:txBody>
      </p:sp>
      <p:sp>
        <p:nvSpPr>
          <p:cNvPr id="33" name="stack5"/>
          <p:cNvSpPr/>
          <p:nvPr/>
        </p:nvSpPr>
        <p:spPr>
          <a:xfrm>
            <a:off x="5943600" y="416052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F6EEEF"/>
          </a:solidFill>
          <a:ln w="6350">
            <a:solidFill>
              <a:srgbClr val="E3D6D8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053328" y="4160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EDK2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logo en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plan: 6 fases en 8 sprints de dos semanas</a:t>
            </a:r>
            <a:endParaRPr lang="en-US" sz="2600" dirty="0"/>
          </a:p>
        </p:txBody>
      </p:sp>
      <p:sp>
        <p:nvSpPr>
          <p:cNvPr id="3" name="sprint0"/>
          <p:cNvSpPr/>
          <p:nvPr/>
        </p:nvSpPr>
        <p:spPr>
          <a:xfrm>
            <a:off x="246888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6888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000" dirty="0"/>
          </a:p>
        </p:txBody>
      </p:sp>
      <p:sp>
        <p:nvSpPr>
          <p:cNvPr id="5" name="sprint1"/>
          <p:cNvSpPr/>
          <p:nvPr/>
        </p:nvSpPr>
        <p:spPr>
          <a:xfrm>
            <a:off x="324612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4612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000" dirty="0"/>
          </a:p>
        </p:txBody>
      </p:sp>
      <p:sp>
        <p:nvSpPr>
          <p:cNvPr id="7" name="sprint2"/>
          <p:cNvSpPr/>
          <p:nvPr/>
        </p:nvSpPr>
        <p:spPr>
          <a:xfrm>
            <a:off x="4023360" y="1051560"/>
            <a:ext cx="749808" cy="292608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000" dirty="0"/>
          </a:p>
        </p:txBody>
      </p:sp>
      <p:sp>
        <p:nvSpPr>
          <p:cNvPr id="9" name="sprint3"/>
          <p:cNvSpPr/>
          <p:nvPr/>
        </p:nvSpPr>
        <p:spPr>
          <a:xfrm>
            <a:off x="480060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000" dirty="0"/>
          </a:p>
        </p:txBody>
      </p:sp>
      <p:sp>
        <p:nvSpPr>
          <p:cNvPr id="11" name="sprint4"/>
          <p:cNvSpPr/>
          <p:nvPr/>
        </p:nvSpPr>
        <p:spPr>
          <a:xfrm>
            <a:off x="557784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000" dirty="0"/>
          </a:p>
        </p:txBody>
      </p:sp>
      <p:sp>
        <p:nvSpPr>
          <p:cNvPr id="13" name="sprint5"/>
          <p:cNvSpPr/>
          <p:nvPr/>
        </p:nvSpPr>
        <p:spPr>
          <a:xfrm>
            <a:off x="635508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000" dirty="0"/>
          </a:p>
        </p:txBody>
      </p:sp>
      <p:sp>
        <p:nvSpPr>
          <p:cNvPr id="15" name="sprint6"/>
          <p:cNvSpPr/>
          <p:nvPr/>
        </p:nvSpPr>
        <p:spPr>
          <a:xfrm>
            <a:off x="713232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000" dirty="0"/>
          </a:p>
        </p:txBody>
      </p:sp>
      <p:sp>
        <p:nvSpPr>
          <p:cNvPr id="17" name="sprint7"/>
          <p:cNvSpPr/>
          <p:nvPr/>
        </p:nvSpPr>
        <p:spPr>
          <a:xfrm>
            <a:off x="7909560" y="1051560"/>
            <a:ext cx="749808" cy="292608"/>
          </a:xfrm>
          <a:prstGeom prst="rect">
            <a:avLst/>
          </a:prstGeom>
          <a:solidFill>
            <a:srgbClr val="F6EEE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09560" y="105156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ago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dic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1691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planificación</a:t>
            </a:r>
            <a:endParaRPr lang="en-US" sz="1300" dirty="0"/>
          </a:p>
        </p:txBody>
      </p:sp>
      <p:sp>
        <p:nvSpPr>
          <p:cNvPr id="22" name="track0"/>
          <p:cNvSpPr/>
          <p:nvPr/>
        </p:nvSpPr>
        <p:spPr>
          <a:xfrm>
            <a:off x="2468880" y="1810512"/>
            <a:ext cx="6217920" cy="54864"/>
          </a:xfrm>
          <a:prstGeom prst="rect">
            <a:avLst/>
          </a:prstGeom>
          <a:solidFill>
            <a:srgbClr val="EFE7E8"/>
          </a:solidFill>
          <a:ln w="12700">
            <a:solidFill>
              <a:srgbClr val="EFE7E8"/>
            </a:solidFill>
            <a:prstDash val="solid"/>
          </a:ln>
        </p:spPr>
      </p:sp>
      <p:sp>
        <p:nvSpPr>
          <p:cNvPr id="23" name="fase0"/>
          <p:cNvSpPr/>
          <p:nvPr/>
        </p:nvSpPr>
        <p:spPr>
          <a:xfrm>
            <a:off x="2468880" y="1719072"/>
            <a:ext cx="1943100" cy="237744"/>
          </a:xfrm>
          <a:prstGeom prst="roundRect">
            <a:avLst>
              <a:gd name="adj" fmla="val 23077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075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 investigación</a:t>
            </a:r>
            <a:endParaRPr lang="en-US" sz="1300" dirty="0"/>
          </a:p>
        </p:txBody>
      </p:sp>
      <p:sp>
        <p:nvSpPr>
          <p:cNvPr id="25" name="track1"/>
          <p:cNvSpPr/>
          <p:nvPr/>
        </p:nvSpPr>
        <p:spPr>
          <a:xfrm>
            <a:off x="2468880" y="2194560"/>
            <a:ext cx="6217920" cy="54864"/>
          </a:xfrm>
          <a:prstGeom prst="rect">
            <a:avLst/>
          </a:prstGeom>
          <a:solidFill>
            <a:srgbClr val="EFE7E8"/>
          </a:solidFill>
          <a:ln w="12700">
            <a:solidFill>
              <a:srgbClr val="EFE7E8"/>
            </a:solidFill>
            <a:prstDash val="solid"/>
          </a:ln>
        </p:spPr>
      </p:sp>
      <p:sp>
        <p:nvSpPr>
          <p:cNvPr id="26" name="fase1"/>
          <p:cNvSpPr/>
          <p:nvPr/>
        </p:nvSpPr>
        <p:spPr>
          <a:xfrm>
            <a:off x="3246120" y="2103120"/>
            <a:ext cx="1943100" cy="237744"/>
          </a:xfrm>
          <a:prstGeom prst="roundRect">
            <a:avLst>
              <a:gd name="adj" fmla="val 23077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2459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300" dirty="0"/>
          </a:p>
        </p:txBody>
      </p:sp>
      <p:sp>
        <p:nvSpPr>
          <p:cNvPr id="28" name="track2"/>
          <p:cNvSpPr/>
          <p:nvPr/>
        </p:nvSpPr>
        <p:spPr>
          <a:xfrm>
            <a:off x="2468880" y="2578608"/>
            <a:ext cx="6217920" cy="54864"/>
          </a:xfrm>
          <a:prstGeom prst="rect">
            <a:avLst/>
          </a:prstGeom>
          <a:solidFill>
            <a:srgbClr val="EFE7E8"/>
          </a:solidFill>
          <a:ln w="12700">
            <a:solidFill>
              <a:srgbClr val="EFE7E8"/>
            </a:solidFill>
            <a:prstDash val="solid"/>
          </a:ln>
        </p:spPr>
      </p:sp>
      <p:sp>
        <p:nvSpPr>
          <p:cNvPr id="29" name="fase2"/>
          <p:cNvSpPr/>
          <p:nvPr/>
        </p:nvSpPr>
        <p:spPr>
          <a:xfrm>
            <a:off x="4411980" y="2487168"/>
            <a:ext cx="1165860" cy="237744"/>
          </a:xfrm>
          <a:prstGeom prst="roundRect">
            <a:avLst>
              <a:gd name="adj" fmla="val 23077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28437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31" name="track3"/>
          <p:cNvSpPr/>
          <p:nvPr/>
        </p:nvSpPr>
        <p:spPr>
          <a:xfrm>
            <a:off x="2468880" y="2962656"/>
            <a:ext cx="6217920" cy="54864"/>
          </a:xfrm>
          <a:prstGeom prst="rect">
            <a:avLst/>
          </a:prstGeom>
          <a:solidFill>
            <a:srgbClr val="EFE7E8"/>
          </a:solidFill>
          <a:ln w="12700">
            <a:solidFill>
              <a:srgbClr val="EFE7E8"/>
            </a:solidFill>
            <a:prstDash val="solid"/>
          </a:ln>
        </p:spPr>
      </p:sp>
      <p:sp>
        <p:nvSpPr>
          <p:cNvPr id="32" name="fase3"/>
          <p:cNvSpPr/>
          <p:nvPr/>
        </p:nvSpPr>
        <p:spPr>
          <a:xfrm>
            <a:off x="5577840" y="2871216"/>
            <a:ext cx="1943100" cy="237744"/>
          </a:xfrm>
          <a:prstGeom prst="roundRect">
            <a:avLst>
              <a:gd name="adj" fmla="val 23077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227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validación</a:t>
            </a:r>
            <a:endParaRPr lang="en-US" sz="1300" dirty="0"/>
          </a:p>
        </p:txBody>
      </p:sp>
      <p:sp>
        <p:nvSpPr>
          <p:cNvPr id="34" name="track4"/>
          <p:cNvSpPr/>
          <p:nvPr/>
        </p:nvSpPr>
        <p:spPr>
          <a:xfrm>
            <a:off x="2468880" y="3346704"/>
            <a:ext cx="6217920" cy="54864"/>
          </a:xfrm>
          <a:prstGeom prst="rect">
            <a:avLst/>
          </a:prstGeom>
          <a:solidFill>
            <a:srgbClr val="EFE7E8"/>
          </a:solidFill>
          <a:ln w="12700">
            <a:solidFill>
              <a:srgbClr val="EFE7E8"/>
            </a:solidFill>
            <a:prstDash val="solid"/>
          </a:ln>
        </p:spPr>
      </p:sp>
      <p:sp>
        <p:nvSpPr>
          <p:cNvPr id="35" name="fase4"/>
          <p:cNvSpPr/>
          <p:nvPr/>
        </p:nvSpPr>
        <p:spPr>
          <a:xfrm>
            <a:off x="6355080" y="3255264"/>
            <a:ext cx="1554480" cy="237744"/>
          </a:xfrm>
          <a:prstGeom prst="roundRect">
            <a:avLst>
              <a:gd name="adj" fmla="val 23077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6118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defensa</a:t>
            </a:r>
            <a:endParaRPr lang="en-US" sz="1300" dirty="0"/>
          </a:p>
        </p:txBody>
      </p:sp>
      <p:sp>
        <p:nvSpPr>
          <p:cNvPr id="37" name="track5"/>
          <p:cNvSpPr/>
          <p:nvPr/>
        </p:nvSpPr>
        <p:spPr>
          <a:xfrm>
            <a:off x="2468880" y="3730752"/>
            <a:ext cx="6217920" cy="54864"/>
          </a:xfrm>
          <a:prstGeom prst="rect">
            <a:avLst/>
          </a:prstGeom>
          <a:solidFill>
            <a:srgbClr val="EFE7E8"/>
          </a:solidFill>
          <a:ln w="12700">
            <a:solidFill>
              <a:srgbClr val="EFE7E8"/>
            </a:solidFill>
            <a:prstDash val="solid"/>
          </a:ln>
        </p:spPr>
      </p:sp>
      <p:sp>
        <p:nvSpPr>
          <p:cNvPr id="38" name="fase5"/>
          <p:cNvSpPr/>
          <p:nvPr/>
        </p:nvSpPr>
        <p:spPr>
          <a:xfrm>
            <a:off x="7520940" y="3639312"/>
            <a:ext cx="1165860" cy="237744"/>
          </a:xfrm>
          <a:prstGeom prst="roundRect">
            <a:avLst>
              <a:gd name="adj" fmla="val 23077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39" name="hoy"/>
          <p:cNvSpPr/>
          <p:nvPr/>
        </p:nvSpPr>
        <p:spPr>
          <a:xfrm>
            <a:off x="4528566" y="1600200"/>
            <a:ext cx="0" cy="2377440"/>
          </a:xfrm>
          <a:prstGeom prst="line">
            <a:avLst/>
          </a:prstGeom>
          <a:noFill/>
          <a:ln w="19050">
            <a:solidFill>
              <a:srgbClr val="C9A227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4162806" y="3977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12 ago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 entrega: estructura inicial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20040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7 oct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2.ª entrega: documento, Gantt y presentación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16 dic  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final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estamos: avances y control de calidad</a:t>
            </a:r>
            <a:endParaRPr lang="en-US" sz="2600" dirty="0"/>
          </a:p>
        </p:txBody>
      </p:sp>
      <p:sp>
        <p:nvSpPr>
          <p:cNvPr id="3" name="estado0"/>
          <p:cNvSpPr/>
          <p:nvPr/>
        </p:nvSpPr>
        <p:spPr>
          <a:xfrm>
            <a:off x="457200" y="1051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070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78992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6420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Equipo, roles y alcance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tecnológica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y factibilidad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del perfil base</a:t>
            </a:r>
            <a:endParaRPr lang="en-US" sz="1300" dirty="0"/>
          </a:p>
        </p:txBody>
      </p:sp>
      <p:sp>
        <p:nvSpPr>
          <p:cNvPr id="7" name="estado1"/>
          <p:cNvSpPr/>
          <p:nvPr/>
        </p:nvSpPr>
        <p:spPr>
          <a:xfrm>
            <a:off x="3246120" y="1051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070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67912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429000" y="166420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institucional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laboratorios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Ubuntu + QEMU/OVMF</a:t>
            </a:r>
            <a:endParaRPr lang="en-US" sz="1300" dirty="0"/>
          </a:p>
        </p:txBody>
      </p:sp>
      <p:sp>
        <p:nvSpPr>
          <p:cNvPr id="11" name="estado2"/>
          <p:cNvSpPr/>
          <p:nvPr/>
        </p:nvSpPr>
        <p:spPr>
          <a:xfrm>
            <a:off x="6035040" y="10515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070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56832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166420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despliegue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rollback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virtuales y reales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vamos a demostrar que funciona?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 min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equipo hoy, configurando a mano (línea base)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24612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equipos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324612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laboratorio: 5–7 h de trabajo técnico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03504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de éxito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4114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guion medido en QEMU/OVMF y equipos de baja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1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Impacto, viabilidad y riesgos</a:t>
            </a:r>
            <a:endParaRPr lang="en-US" sz="2600" dirty="0"/>
          </a:p>
        </p:txBody>
      </p:sp>
      <p:sp>
        <p:nvSpPr>
          <p:cNvPr id="3" name="dato0"/>
          <p:cNvSpPr/>
          <p:nvPr/>
        </p:nvSpPr>
        <p:spPr>
          <a:xfrm>
            <a:off x="457200" y="105156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61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18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licencias de software</a:t>
            </a:r>
            <a:endParaRPr lang="en-US" sz="1200" dirty="0"/>
          </a:p>
        </p:txBody>
      </p:sp>
      <p:sp>
        <p:nvSpPr>
          <p:cNvPr id="6" name="dato1"/>
          <p:cNvSpPr/>
          <p:nvPr/>
        </p:nvSpPr>
        <p:spPr>
          <a:xfrm>
            <a:off x="457200" y="219456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04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75–105 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por integrante</a:t>
            </a:r>
            <a:endParaRPr lang="en-US" sz="1200" dirty="0"/>
          </a:p>
        </p:txBody>
      </p:sp>
      <p:sp>
        <p:nvSpPr>
          <p:cNvPr id="9" name="dato2"/>
          <p:cNvSpPr/>
          <p:nvPr/>
        </p:nvSpPr>
        <p:spPr>
          <a:xfrm>
            <a:off x="457200" y="3337560"/>
            <a:ext cx="3291840" cy="960120"/>
          </a:xfrm>
          <a:prstGeom prst="roundRect">
            <a:avLst>
              <a:gd name="adj" fmla="val 9524"/>
            </a:avLst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4472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 800–1,500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904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implementación por laboratorio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→ mitigación</a:t>
            </a:r>
            <a:endParaRPr lang="en-US" sz="1600" dirty="0"/>
          </a:p>
        </p:txBody>
      </p:sp>
      <p:sp>
        <p:nvSpPr>
          <p:cNvPr id="13" name="riesgo0"/>
          <p:cNvSpPr/>
          <p:nvPr/>
        </p:nvSpPr>
        <p:spPr>
          <a:xfrm>
            <a:off x="4114800" y="146304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un equipo inutilizado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18470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en VM y equipos de baja + rollback automático</a:t>
            </a:r>
            <a:endParaRPr lang="en-US" sz="1200" dirty="0"/>
          </a:p>
        </p:txBody>
      </p:sp>
      <p:sp>
        <p:nvSpPr>
          <p:cNvPr id="16" name="riesgo1"/>
          <p:cNvSpPr/>
          <p:nvPr/>
        </p:nvSpPr>
        <p:spPr>
          <a:xfrm>
            <a:off x="4114800" y="233172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04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en la autorización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desde la semana 1 y entorno virtual en paralelo</a:t>
            </a:r>
            <a:endParaRPr lang="en-US" sz="1200" dirty="0"/>
          </a:p>
        </p:txBody>
      </p:sp>
      <p:sp>
        <p:nvSpPr>
          <p:cNvPr id="19" name="riesgo2"/>
          <p:cNvSpPr/>
          <p:nvPr/>
        </p:nvSpPr>
        <p:spPr>
          <a:xfrm>
            <a:off x="4114800" y="320040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F6EEEF"/>
          </a:solidFill>
          <a:ln w="12700">
            <a:solidFill>
              <a:srgbClr val="F6EE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9768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distintas marcas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común, adaptado a CCTK o BCU según fabricante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 a soporte técnico (menos trabajo manual), docentes (clases sin imprevistos) y estudiantes (equipos homogéneos).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franz BIOS">
  <a:themeElements>
    <a:clrScheme name="Unifranz BIOS">
      <a:dk1>
        <a:srgbClr val="2B2B2B"/>
      </a:dk1>
      <a:lt1>
        <a:srgbClr val="FFFFFF"/>
      </a:lt1>
      <a:dk2>
        <a:srgbClr val="8B1E2D"/>
      </a:dk2>
      <a:lt2>
        <a:srgbClr val="F6EEEF"/>
      </a:lt2>
      <a:accent1>
        <a:srgbClr val="8B1E2D"/>
      </a:accent1>
      <a:accent2>
        <a:srgbClr val="C9A227"/>
      </a:accent2>
      <a:accent3>
        <a:srgbClr val="5A5A5A"/>
      </a:accent3>
      <a:accent4>
        <a:srgbClr val="B34A5A"/>
      </a:accent4>
      <a:accent5>
        <a:srgbClr val="D9A3AB"/>
      </a:accent5>
      <a:accent6>
        <a:srgbClr val="3D6B5A"/>
      </a:accent6>
      <a:hlink>
        <a:srgbClr val="8B1E2D"/>
      </a:hlink>
      <a:folHlink>
        <a:srgbClr val="6D2E46"/>
      </a:folHlink>
    </a:clrScheme>
    <a:fontScheme name="Unifranz BI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BIOS/UEFI Personalizada para Equipos de la Universidad</dc:title>
  <dc:subject>PptxGenJS Presentation</dc:subject>
  <dc:creator>Elia Solis Escobar, Juan Manuel Chacon Villarroel, Gabriel Ruben Oconor Aruquipa</dc:creator>
  <cp:lastModifiedBy>Elia Solis Escobar, Juan Manuel Chacon Villarroel, Gabriel Ruben Oconor Aruquipa</cp:lastModifiedBy>
  <cp:revision>1</cp:revision>
  <dcterms:created xsi:type="dcterms:W3CDTF">2026-10-07T12:49:41Z</dcterms:created>
  <dcterms:modified xsi:type="dcterms:W3CDTF">2026-10-07T12:49:41Z</dcterms:modified>
</cp:coreProperties>
</file>